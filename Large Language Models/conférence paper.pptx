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19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0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33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8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76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66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70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506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42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702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95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E42EE-6BBD-4A6F-9D02-1F8A20CFCC76}" type="datetimeFigureOut">
              <a:rPr lang="fr-FR" smtClean="0"/>
              <a:t>29/08/2025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85483-E889-4CA3-B2BB-36B84D648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11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457200" indent="-457200" algn="l">
              <a:buAutoNum type="arabicParenR"/>
            </a:pPr>
            <a:r>
              <a:rPr lang="fr-FR" sz="2000" dirty="0"/>
              <a:t>Le sous-titrage automatique de vidéos est aujourd’hui au cœur des recherches en vision par ordinateur et en traitement du langage naturel </a:t>
            </a:r>
            <a:r>
              <a:rPr lang="fr-FR" sz="2000" b="1" dirty="0"/>
              <a:t>[1]</a:t>
            </a:r>
            <a:r>
              <a:rPr lang="fr-FR" sz="2000" dirty="0"/>
              <a:t>, avec des applications directes en accessibilité multimédia </a:t>
            </a:r>
            <a:r>
              <a:rPr lang="fr-FR" sz="2000" b="1" dirty="0"/>
              <a:t>[2]</a:t>
            </a:r>
            <a:r>
              <a:rPr lang="fr-FR" sz="2000" dirty="0"/>
              <a:t>, indexation de contenu et technologies d’assistance </a:t>
            </a:r>
            <a:r>
              <a:rPr lang="fr-FR" sz="2000" b="1" dirty="0"/>
              <a:t>[3]</a:t>
            </a:r>
            <a:r>
              <a:rPr lang="fr-FR" sz="2000" dirty="0"/>
              <a:t>. Malgré les avancées récentes des architectures encodeur–décodeur et des modèles transformateurs, la plupart des systèmes existants restent limités : ils génèrent un seul sous-titre pour l’ensemble d’un clip, sans tenir compte de sa structure temporelle interne</a:t>
            </a:r>
            <a:r>
              <a:rPr lang="fr-FR" sz="2000" dirty="0" smtClean="0"/>
              <a:t>.</a:t>
            </a:r>
          </a:p>
          <a:p>
            <a:pPr marL="457200" indent="-457200" algn="l">
              <a:buAutoNum type="arabicParenR"/>
            </a:pPr>
            <a:r>
              <a:rPr lang="fr-FR" sz="2000" dirty="0"/>
              <a:t>Cette approche globale nuit à la précision et à la valeur explicative du sous-titrage, notamment dans des contextes sensibles tels que l’assistance visuelle aux personnes aveugles, où la distinction entre les scènes est essentielle. Pour dépasser cette limite, nous introduisons un cadre de sous-titrage vidéo sensible aux scènes, qui associe la détection automatique de transitions visuelles à la génération de sous-titres localisés, complétés par un résumé narratif du contenu </a:t>
            </a:r>
            <a:r>
              <a:rPr lang="fr-FR" sz="2000" dirty="0" smtClean="0"/>
              <a:t>global </a:t>
            </a:r>
            <a:r>
              <a:rPr lang="fr-FR" sz="2000" b="1" dirty="0" smtClean="0"/>
              <a:t>[5]</a:t>
            </a:r>
            <a:r>
              <a:rPr lang="fr-FR" sz="2000" dirty="0" smtClean="0"/>
              <a:t>.</a:t>
            </a:r>
          </a:p>
          <a:p>
            <a:pPr marL="457200" indent="-457200" algn="l">
              <a:buAutoNum type="arabicParenR"/>
            </a:pPr>
            <a:r>
              <a:rPr lang="fr-FR" sz="2000" dirty="0"/>
              <a:t>Techniquement, notre pipeline combine </a:t>
            </a:r>
            <a:r>
              <a:rPr lang="fr-FR" sz="2000" dirty="0" err="1"/>
              <a:t>TimeSformer</a:t>
            </a:r>
            <a:r>
              <a:rPr lang="fr-FR" sz="2000" dirty="0"/>
              <a:t>, un encodeur visuel transformateur apte à modéliser des dépendances spatio-temporelles, avec GPT-2 </a:t>
            </a:r>
            <a:r>
              <a:rPr lang="fr-FR" sz="2000" b="1" dirty="0"/>
              <a:t>[6]</a:t>
            </a:r>
            <a:r>
              <a:rPr lang="fr-FR" sz="2000" dirty="0"/>
              <a:t>, un générateur linguistique autorégressif. La segmentation repose sur </a:t>
            </a:r>
            <a:r>
              <a:rPr lang="fr-FR" sz="2000" dirty="0" err="1"/>
              <a:t>PySceneDetect</a:t>
            </a:r>
            <a:r>
              <a:rPr lang="fr-FR" sz="2000" dirty="0"/>
              <a:t>, tandis que </a:t>
            </a:r>
            <a:r>
              <a:rPr lang="fr-FR" sz="2000" dirty="0" err="1" smtClean="0"/>
              <a:t>Ffmpeg</a:t>
            </a:r>
            <a:r>
              <a:rPr lang="fr-FR" sz="2000" dirty="0" smtClean="0"/>
              <a:t> </a:t>
            </a:r>
            <a:r>
              <a:rPr lang="fr-FR" sz="2000" b="1" dirty="0" smtClean="0"/>
              <a:t>[8]</a:t>
            </a:r>
            <a:r>
              <a:rPr lang="fr-FR" sz="2000" dirty="0" smtClean="0"/>
              <a:t> </a:t>
            </a:r>
            <a:r>
              <a:rPr lang="fr-FR" sz="2000" dirty="0"/>
              <a:t>et </a:t>
            </a:r>
            <a:r>
              <a:rPr lang="fr-FR" sz="2000" dirty="0" err="1" smtClean="0"/>
              <a:t>ImageMagick</a:t>
            </a:r>
            <a:r>
              <a:rPr lang="fr-FR" sz="2000" dirty="0" smtClean="0"/>
              <a:t> </a:t>
            </a:r>
            <a:r>
              <a:rPr lang="fr-FR" sz="2000" b="1" dirty="0" smtClean="0"/>
              <a:t>[10]</a:t>
            </a:r>
            <a:r>
              <a:rPr lang="fr-FR" sz="2000" dirty="0" smtClean="0"/>
              <a:t> </a:t>
            </a:r>
            <a:r>
              <a:rPr lang="fr-FR" sz="2000" dirty="0"/>
              <a:t>assurent le traitement visuel et l’incrustation des sous-titres. Contrairement aux méthodes classiques qui échantillonnent un nombre fixe d’images sur toute la vidéo </a:t>
            </a:r>
            <a:r>
              <a:rPr lang="fr-FR" sz="2000" b="1" dirty="0"/>
              <a:t>[</a:t>
            </a:r>
            <a:r>
              <a:rPr lang="fr-FR" sz="2000" b="1" dirty="0" err="1"/>
              <a:t>ijacsa</a:t>
            </a:r>
            <a:r>
              <a:rPr lang="fr-FR" sz="2000" b="1" dirty="0"/>
              <a:t> article], </a:t>
            </a:r>
            <a:r>
              <a:rPr lang="fr-FR" sz="2000" dirty="0"/>
              <a:t>notre approche sélectionne des images clés propres à chaque scène, garantissant des descriptions contextualisées et alignées avec la dynamique temporelle</a:t>
            </a:r>
            <a:r>
              <a:rPr lang="fr-FR" sz="2000" dirty="0" smtClean="0"/>
              <a:t>.</a:t>
            </a:r>
          </a:p>
          <a:p>
            <a:pPr marL="457200" indent="-457200" algn="l">
              <a:buAutoNum type="arabicParenR"/>
            </a:pPr>
            <a:r>
              <a:rPr lang="fr-FR" sz="2000" dirty="0"/>
              <a:t>Évaluée sur le corpus VATEX, elle obtient des résultats compétitifs selon les métriques BLEU, METEOR, ROUGE-L et </a:t>
            </a:r>
            <a:r>
              <a:rPr lang="fr-FR" sz="2000" dirty="0" err="1"/>
              <a:t>CIDEr</a:t>
            </a:r>
            <a:r>
              <a:rPr lang="fr-FR" sz="2000" dirty="0"/>
              <a:t>, tout en améliorant la cohérence narrative. Ce travail ouvre ainsi la voie à des systèmes de sous-titrage explicables, optimisés pour GPU et adaptés à des applications variées telles que la narration assistée, le résumé vidéo et l’indexation multimédia automatisée.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23618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algn="l"/>
            <a:r>
              <a:rPr lang="fr-FR" b="1" i="1" u="sng" noProof="1" smtClean="0"/>
              <a:t>Titre:</a:t>
            </a:r>
            <a:r>
              <a:rPr lang="fr-FR" b="1" i="1" noProof="1" smtClean="0"/>
              <a:t> </a:t>
            </a:r>
            <a:r>
              <a:rPr lang="fr-FR" b="1" noProof="1" smtClean="0"/>
              <a:t>Génération Automatique de Légendes Vidéo par Scènes et Résumé Global : Une Architecture Hybride Basée sur TimeSformer-GPT2</a:t>
            </a:r>
          </a:p>
          <a:p>
            <a:pPr algn="l"/>
            <a:r>
              <a:rPr lang="fr-FR" sz="2000" b="1" i="1" noProof="1" smtClean="0"/>
              <a:t>1. Introduction</a:t>
            </a:r>
          </a:p>
          <a:p>
            <a:pPr algn="l"/>
            <a:r>
              <a:rPr lang="fr-FR" sz="2000" b="1" i="1" noProof="1" smtClean="0"/>
              <a:t>2. Method</a:t>
            </a:r>
          </a:p>
          <a:p>
            <a:pPr algn="l"/>
            <a:r>
              <a:rPr lang="fr-FR" sz="2000" i="1" noProof="1" smtClean="0"/>
              <a:t>   Cette section décrit l'architecture, le mécanisme d'extraction de scènes, le processus de génération de légendes et le module de fusion narrative globale.</a:t>
            </a:r>
          </a:p>
          <a:p>
            <a:pPr algn="l"/>
            <a:r>
              <a:rPr lang="fr-FR" sz="2000" b="1" i="1" noProof="1" smtClean="0">
                <a:solidFill>
                  <a:srgbClr val="00B050"/>
                </a:solidFill>
              </a:rPr>
              <a:t>      2.1. System Overview</a:t>
            </a:r>
          </a:p>
          <a:p>
            <a:pPr algn="l"/>
            <a:r>
              <a:rPr lang="fr-FR" sz="2000" i="1" noProof="1" smtClean="0"/>
              <a:t>     Le pipeline proposé intègre :</a:t>
            </a:r>
          </a:p>
          <a:p>
            <a:pPr algn="l"/>
            <a:r>
              <a:rPr lang="fr-FR" sz="2000" i="1" noProof="1" smtClean="0"/>
              <a:t>           - La segmentation de scènes à l'aide de PySceneDetect (détection de plans basée sur le contenu).</a:t>
            </a:r>
          </a:p>
          <a:p>
            <a:pPr algn="l"/>
            <a:r>
              <a:rPr lang="fr-FR" sz="2000" i="1" noProof="1" smtClean="0"/>
              <a:t>           - L'extraction de caractéristiques visuelles à partir d'images représentatives à l'aide de TimeSformer.</a:t>
            </a:r>
          </a:p>
          <a:p>
            <a:pPr algn="l"/>
            <a:r>
              <a:rPr lang="fr-FR" sz="2000" i="1" noProof="1" smtClean="0"/>
              <a:t>           - La génération de légendes par scène à l'aide de GPT-2 conditionné par l'intégration d'images.</a:t>
            </a:r>
          </a:p>
          <a:p>
            <a:pPr algn="l"/>
            <a:r>
              <a:rPr lang="fr-FR" sz="2000" i="1" noProof="1" smtClean="0"/>
              <a:t>           - La génération d'un résumé global via une fusion tardive ou un sous-titrage holistique.</a:t>
            </a:r>
          </a:p>
          <a:p>
            <a:pPr algn="l"/>
            <a:r>
              <a:rPr lang="fr-FR" sz="2000" i="1" noProof="1" smtClean="0"/>
              <a:t>           - L'exportation au format SRT, JSON et vidéo avec sous-titres intégrés.</a:t>
            </a:r>
          </a:p>
          <a:p>
            <a:pPr algn="l"/>
            <a:r>
              <a:rPr lang="fr-FR" sz="2000" i="1" noProof="1" smtClean="0"/>
              <a:t>      </a:t>
            </a:r>
            <a:r>
              <a:rPr lang="fr-FR" sz="2000" b="1" i="1" noProof="1" smtClean="0">
                <a:solidFill>
                  <a:srgbClr val="00B050"/>
                </a:solidFill>
              </a:rPr>
              <a:t>2.2. Scene Segmentation and Frame Sampling</a:t>
            </a:r>
          </a:p>
          <a:p>
            <a:pPr algn="l"/>
            <a:r>
              <a:rPr lang="fr-FR" sz="2000" i="1" noProof="1" smtClean="0"/>
              <a:t>     Nous adoptons une stratégie de segmentation basée sur le contenu visuel à l'aide de PySceneDetect avec des seuils configurables </a:t>
            </a:r>
            <a:r>
              <a:rPr lang="fr-FR" sz="2000" b="1" i="1" noProof="1" smtClean="0"/>
              <a:t>(threshold, min_scene_len). </a:t>
            </a:r>
            <a:r>
              <a:rPr lang="fr-FR" sz="2000" i="1" noProof="1" smtClean="0"/>
              <a:t>Les transitions courtes ou les segments peu informatifs sont filtrés afin de se concentrer sur les unités visuelles significatives.</a:t>
            </a:r>
          </a:p>
          <a:p>
            <a:pPr algn="l"/>
            <a:r>
              <a:rPr lang="fr-FR" sz="2000" i="1" noProof="1" smtClean="0"/>
              <a:t>Pour chaque scène détectée, 16 à 32 images sont échantillonnées à intervalles temporels réguliers </a:t>
            </a:r>
            <a:r>
              <a:rPr lang="fr-FR" sz="2000" b="1" i="1" noProof="1" smtClean="0"/>
              <a:t>(via np.linspace),</a:t>
            </a:r>
            <a:r>
              <a:rPr lang="fr-FR" sz="2000" i="1" noProof="1" smtClean="0"/>
              <a:t>assurer une représentation équilibrée tout au long de la durée du clip :</a:t>
            </a:r>
          </a:p>
          <a:p>
            <a:pPr algn="l"/>
            <a:endParaRPr lang="fr-FR" sz="2000" i="1" dirty="0"/>
          </a:p>
        </p:txBody>
      </p:sp>
    </p:spTree>
    <p:extLst>
      <p:ext uri="{BB962C8B-B14F-4D97-AF65-F5344CB8AC3E}">
        <p14:creationId xmlns:p14="http://schemas.microsoft.com/office/powerpoint/2010/main" val="610794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endParaRPr lang="fr-FR" sz="2000" i="1" noProof="1" smtClean="0"/>
          </a:p>
          <a:p>
            <a:pPr algn="l"/>
            <a:endParaRPr lang="fr-FR" sz="2000" i="1" noProof="1"/>
          </a:p>
          <a:p>
            <a:pPr algn="l"/>
            <a:r>
              <a:rPr lang="fr-FR" sz="2000" b="1" i="1" noProof="1" smtClean="0">
                <a:solidFill>
                  <a:srgbClr val="00B050"/>
                </a:solidFill>
              </a:rPr>
              <a:t>      2.3. Visual Encoding with TimeSformer</a:t>
            </a:r>
          </a:p>
          <a:p>
            <a:pPr algn="l"/>
            <a:r>
              <a:rPr lang="fr-FR" sz="2000" b="1" i="1" noProof="1" smtClean="0">
                <a:solidFill>
                  <a:srgbClr val="00B050"/>
                </a:solidFill>
              </a:rPr>
              <a:t>      2.4. Caption Generation with GPT-2</a:t>
            </a:r>
          </a:p>
          <a:p>
            <a:pPr algn="l"/>
            <a:r>
              <a:rPr lang="fr-FR" sz="2000" b="1" i="1" noProof="1" smtClean="0">
                <a:solidFill>
                  <a:srgbClr val="00B050"/>
                </a:solidFill>
              </a:rPr>
              <a:t>      2.5. Global Narrative Fusion</a:t>
            </a:r>
          </a:p>
          <a:p>
            <a:pPr algn="l"/>
            <a:r>
              <a:rPr lang="fr-FR" sz="2000" i="1" noProof="1" smtClean="0"/>
              <a:t>         Deux stratégies sont proposées :</a:t>
            </a:r>
          </a:p>
          <a:p>
            <a:pPr algn="l"/>
            <a:r>
              <a:rPr lang="fr-FR" sz="2000" i="1" noProof="1" smtClean="0"/>
              <a:t>           - </a:t>
            </a:r>
            <a:r>
              <a:rPr lang="fr-FR" sz="2000" b="1" i="1" noProof="1" smtClean="0"/>
              <a:t>Résumé basé sur un modèle </a:t>
            </a:r>
            <a:r>
              <a:rPr lang="fr-FR" sz="2000" i="1" noProof="1" smtClean="0"/>
              <a:t>: combiner toutes les légendes au niveau de la scène et générer un résumé global à l'aide d'un modèle de résumé (par exemple, BART).</a:t>
            </a:r>
          </a:p>
          <a:p>
            <a:pPr algn="l"/>
            <a:r>
              <a:rPr lang="fr-FR" sz="2000" i="1" noProof="1" smtClean="0"/>
              <a:t>          - </a:t>
            </a:r>
            <a:r>
              <a:rPr lang="fr-FR" sz="2000" b="1" i="1" noProof="1" smtClean="0"/>
              <a:t>Légende globale directe </a:t>
            </a:r>
            <a:r>
              <a:rPr lang="fr-FR" sz="2000" i="1" noProof="1" smtClean="0"/>
              <a:t>: traiter l'intégralité de la vidéo avec le même encodeur-décodeur afin de produire une seule légende.</a:t>
            </a:r>
          </a:p>
          <a:p>
            <a:pPr algn="l"/>
            <a:r>
              <a:rPr lang="fr-FR" sz="2000" i="1" noProof="1" smtClean="0"/>
              <a:t>          - </a:t>
            </a:r>
            <a:r>
              <a:rPr lang="fr-FR" sz="2000" b="1" i="1" noProof="1" smtClean="0"/>
              <a:t>La légende globale </a:t>
            </a:r>
            <a:r>
              <a:rPr lang="fr-FR" sz="2000" i="1" noProof="1" smtClean="0"/>
              <a:t>est ajoutée au début de la vidéo finale pour une meilleure accessibilité.</a:t>
            </a:r>
          </a:p>
          <a:p>
            <a:pPr algn="l"/>
            <a:r>
              <a:rPr lang="fr-FR" sz="2000" i="1" noProof="1"/>
              <a:t> </a:t>
            </a:r>
            <a:r>
              <a:rPr lang="fr-FR" sz="2000" i="1" noProof="1" smtClean="0"/>
              <a:t>       </a:t>
            </a:r>
            <a:r>
              <a:rPr lang="fr-FR" sz="2000" b="1" i="1" noProof="1" smtClean="0">
                <a:solidFill>
                  <a:srgbClr val="00B050"/>
                </a:solidFill>
              </a:rPr>
              <a:t>2.6. Video Rendering and Export</a:t>
            </a:r>
          </a:p>
          <a:p>
            <a:pPr algn="l"/>
            <a:r>
              <a:rPr lang="fr-FR" sz="2000" i="1" noProof="1" smtClean="0"/>
              <a:t>     Nous utilisons </a:t>
            </a:r>
            <a:r>
              <a:rPr lang="fr-FR" sz="2000" b="1" i="1" noProof="1" smtClean="0"/>
              <a:t>FFmpeg</a:t>
            </a:r>
            <a:r>
              <a:rPr lang="fr-FR" sz="2000" i="1" noProof="1" smtClean="0"/>
              <a:t> + </a:t>
            </a:r>
            <a:r>
              <a:rPr lang="fr-FR" sz="2000" b="1" i="1" noProof="1" smtClean="0"/>
              <a:t>MoviePy</a:t>
            </a:r>
            <a:r>
              <a:rPr lang="fr-FR" sz="2000" i="1" noProof="1" smtClean="0"/>
              <a:t> pour l'extraction des images clés, l'intégration des sous-titres et l'encodage vidéo. Le résultat comprend :</a:t>
            </a:r>
          </a:p>
          <a:p>
            <a:pPr algn="l"/>
            <a:r>
              <a:rPr lang="fr-FR" sz="2000" i="1" noProof="1" smtClean="0"/>
              <a:t>          - </a:t>
            </a:r>
            <a:r>
              <a:rPr lang="fr-FR" sz="2000" b="1" i="1" noProof="1" smtClean="0"/>
              <a:t>un fichier .srt </a:t>
            </a:r>
            <a:r>
              <a:rPr lang="fr-FR" sz="2000" i="1" noProof="1" smtClean="0"/>
              <a:t>avec les sous-titres par scène</a:t>
            </a:r>
          </a:p>
          <a:p>
            <a:pPr algn="l"/>
            <a:r>
              <a:rPr lang="fr-FR" sz="2000" i="1" noProof="1" smtClean="0"/>
              <a:t>          - </a:t>
            </a:r>
            <a:r>
              <a:rPr lang="fr-FR" sz="2000" b="1" i="1" noProof="1" smtClean="0"/>
              <a:t>un fichier .json </a:t>
            </a:r>
            <a:r>
              <a:rPr lang="fr-FR" sz="2000" i="1" noProof="1" smtClean="0"/>
              <a:t>avec des paires scène-légende structurées</a:t>
            </a:r>
          </a:p>
          <a:p>
            <a:pPr algn="l"/>
            <a:r>
              <a:rPr lang="fr-FR" sz="2000" i="1" noProof="1" smtClean="0"/>
              <a:t>          - </a:t>
            </a:r>
            <a:r>
              <a:rPr lang="fr-FR" sz="2000" b="1" i="1" noProof="1" smtClean="0"/>
              <a:t>un fichier .mp4 </a:t>
            </a:r>
            <a:r>
              <a:rPr lang="fr-FR" sz="2000" i="1" noProof="1" smtClean="0"/>
              <a:t>avec des sous-titres codés en dur (gravés via ImageMagick)</a:t>
            </a:r>
            <a:endParaRPr lang="fr-FR" sz="2000" i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467" y="116455"/>
            <a:ext cx="71628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974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717</Words>
  <Application>Microsoft Office PowerPoint</Application>
  <PresentationFormat>Grand écran</PresentationFormat>
  <Paragraphs>32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26</cp:revision>
  <dcterms:created xsi:type="dcterms:W3CDTF">2025-08-27T16:23:02Z</dcterms:created>
  <dcterms:modified xsi:type="dcterms:W3CDTF">2025-08-29T21:42:35Z</dcterms:modified>
</cp:coreProperties>
</file>